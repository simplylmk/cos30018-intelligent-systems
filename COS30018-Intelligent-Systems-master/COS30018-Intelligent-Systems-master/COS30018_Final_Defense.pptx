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3" r:id="rId5"/>
    <p:sldId id="259" r:id="rId6"/>
    <p:sldId id="275" r:id="rId7"/>
    <p:sldId id="260" r:id="rId8"/>
    <p:sldId id="274" r:id="rId9"/>
    <p:sldId id="261" r:id="rId10"/>
    <p:sldId id="272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6" r:id="rId21"/>
    <p:sldId id="277" r:id="rId22"/>
    <p:sldId id="271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824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46DA0-947B-D418-1D17-E87BDD6EF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31CEA-05FD-E1A8-D198-9ED8A5E57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B7D0C-BF77-32B3-B456-2B6F2BFC9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4CF70-C5C7-D819-F779-7A8F46EA8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764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72D75-2C55-47C4-1784-1978A3291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5091B-7F91-01CA-C805-DAD7B3748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B7FDD-BD02-C89E-43FE-5E8568A57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BF2F8-4FFD-0CD6-0B16-B462D47BC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75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Predicting CBA.AX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Behavior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Machine Learning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COS30018 Intelligent Systems  |  Option C  |  Final Defense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828800" cy="18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Minh Kha</a:t>
            </a:r>
            <a:endParaRPr lang="en-US" sz="1400" dirty="0"/>
          </a:p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Ky Trung  |  Semester January 2026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we predict stock price behavior?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markets are inherently noisy and nonlinear. The Efficient Market Hypothesis suggests prices already reflect all available information, making consistent prediction near-impossible. This project tests that assumption using deep learning and machine learning on CBA.AX (Commonwealth Bank of Australia) daily data from 2020 to 2024.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126480" y="1417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1,131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trading days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943600" y="237744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0" y="237744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126480" y="2423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OHLCV features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943600" y="338328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943600" y="338328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126480" y="3429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code versions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questions this project answers: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How accurately can we predict the next-day closing price? (Regression)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Can we predict price direction (up/down) using news sentiment? (Classification)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Incremental Development: v0.1 to v0.7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76809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1792" y="1719072"/>
            <a:ext cx="219456" cy="219456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1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LSTM, hardcoded dates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01952" y="1719072"/>
            <a:ext cx="219456" cy="219456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1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645920" y="1325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handling, MinMaxScaler, caching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82112" y="1719072"/>
            <a:ext cx="219456" cy="219456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1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926080" y="1325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&amp; boxplot charts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462272" y="1719072"/>
            <a:ext cx="219456" cy="219456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1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206240" y="1325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6908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vs GRU vs RNN experiments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42432" y="1719072"/>
            <a:ext cx="219456" cy="219456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1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486400" y="1325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4924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Multi-prediction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+ multistep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022592" y="1719072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1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766560" y="1325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+ RF + DL combinations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302752" y="1719072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1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046720" y="1325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0956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6384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+ news sentiment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474720"/>
            <a:ext cx="3840480" cy="1188720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40080" y="35661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(C.1–C.6)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will the price be?"</a:t>
            </a:r>
            <a:endParaRPr lang="en-US" sz="130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794760"/>
            <a:ext cx="274320" cy="274320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4846320" y="3474720"/>
            <a:ext cx="3840480" cy="1188720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029200" y="35661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(C.7)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"Will the price go up or down?"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  <a:latin typeface="Calibri"/>
              </a:rPr>
              <a:t>ILLUSTRATION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2799"/>
            <a:ext cx="578299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E293B"/>
                </a:solidFill>
                <a:latin typeface="Trebuchet MS"/>
              </a:rPr>
              <a:t>Model Predictions vs Actual Price</a:t>
            </a:r>
            <a:r>
              <a:rPr lang="en-US" sz="2400" b="1" dirty="0">
                <a:solidFill>
                  <a:srgbClr val="1E293B"/>
                </a:solidFill>
                <a:latin typeface="Trebuchet MS"/>
              </a:rPr>
              <a:t> – BL0</a:t>
            </a:r>
            <a:endParaRPr sz="2400" b="1" dirty="0">
              <a:solidFill>
                <a:srgbClr val="1E293B"/>
              </a:solidFill>
              <a:latin typeface="Trebuchet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Calibri"/>
              </a:rPr>
              <a:t>C.4: GRU (green) tracks closely; SimpleRNN (red) diverges significantly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A4334B-2656-3D1D-D5FD-3CE820045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097280"/>
            <a:ext cx="788670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C.1–C.3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 &amp; Preprocessing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4864" cy="2560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3317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API via yfinance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CBA.AX daily OHLCV 2020–2024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CSV caching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06040" y="146304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2606040" y="1463040"/>
            <a:ext cx="54864" cy="2560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6002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43200" y="23317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then backward-fill NaN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Per-column MinMaxScaler [0,1]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objects stored for inverse transform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0" y="146304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4754880" y="1463040"/>
            <a:ext cx="54864" cy="2560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6002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9204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92040" y="23317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charts (daily/weekly/monthly)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analysis for volatility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overlays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903720" y="146304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6903720" y="1463040"/>
            <a:ext cx="54864" cy="2560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160020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040880" y="23317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50-day sliding window sequences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to 3D tensor (samples, 50, features)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chronological train/test split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v0.2 performance: MAE $4.14  |  RMSE $4.61  |  MAPE 3.84%  |  R² 0.7348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3DF5D6-9CDF-3810-1C72-96279944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131819-E9BE-FE51-57CB-282470595732}"/>
              </a:ext>
            </a:extLst>
          </p:cNvPr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2CF09-4EF1-1EFC-47D0-D98A948B3201}"/>
              </a:ext>
            </a:extLst>
          </p:cNvPr>
          <p:cNvSpPr txBox="1"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>
                <a:solidFill>
                  <a:srgbClr val="3B82F6"/>
                </a:solidFill>
                <a:latin typeface="Calibri"/>
              </a:rPr>
              <a:t>ILLUSTRATION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31772-5636-E3A9-4488-DE666469B60E}"/>
              </a:ext>
            </a:extLst>
          </p:cNvPr>
          <p:cNvSpPr txBox="1"/>
          <p:nvPr/>
        </p:nvSpPr>
        <p:spPr>
          <a:xfrm>
            <a:off x="1534199" y="81475"/>
            <a:ext cx="578299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E293B"/>
                </a:solidFill>
                <a:latin typeface="Trebuchet MS"/>
              </a:rPr>
              <a:t>Model Predictions vs Actual Price</a:t>
            </a:r>
            <a:r>
              <a:rPr lang="en-US" sz="2400" b="1" dirty="0">
                <a:solidFill>
                  <a:srgbClr val="1E293B"/>
                </a:solidFill>
                <a:latin typeface="Trebuchet MS"/>
              </a:rPr>
              <a:t> – BL0</a:t>
            </a:r>
            <a:endParaRPr sz="2400" b="1" dirty="0">
              <a:solidFill>
                <a:srgbClr val="1E293B"/>
              </a:solidFill>
              <a:latin typeface="Trebuchet M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93A295-CFB0-25A1-6480-AF49CF9C7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28" y="650697"/>
            <a:ext cx="7325709" cy="418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91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C.4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 Experiments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configurable create_model() function supporting LSTM, GRU, and SimpleRNN. Ran 13 experiments across cell type, depth, width, and training hyperparameters.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7040880" cy="1783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1×LSTM(50)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2×LSTM(50)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2×GRU(50)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2×SimpleRNN(50)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2×LSTM(50), 50 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Single-layer LSTM achieved the best R² (0.9756). GRU consistently outperformed LSTM at equivalent depth. SimpleRNN failed to capture temporal patterns (R² = 0.67).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3AA52-C684-F042-C757-62E4C0523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14C73B-E9F9-4152-8913-1B73A0050AB4}"/>
              </a:ext>
            </a:extLst>
          </p:cNvPr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17762C-5B31-2DE4-44BB-82EF67B49868}"/>
              </a:ext>
            </a:extLst>
          </p:cNvPr>
          <p:cNvSpPr txBox="1"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  <a:latin typeface="Calibri"/>
              </a:rPr>
              <a:t>ILLUSTRATION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2BECAD-FC9F-9158-6C89-91C9A1450FC7}"/>
              </a:ext>
            </a:extLst>
          </p:cNvPr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Trebuchet MS"/>
              </a:rPr>
              <a:t>Model Predictions vs Actual Price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64350-F628-DA69-7F65-17BD0F478D8C}"/>
              </a:ext>
            </a:extLst>
          </p:cNvPr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Calibri"/>
              </a:rPr>
              <a:t>C.4: GRU (green) tracks closely; SimpleRNN (red) diverges significantly</a:t>
            </a:r>
          </a:p>
        </p:txBody>
      </p:sp>
      <p:pic>
        <p:nvPicPr>
          <p:cNvPr id="6" name="Picture 5" descr="comparison_chart_all.png">
            <a:extLst>
              <a:ext uri="{FF2B5EF4-FFF2-40B4-BE49-F238E27FC236}">
                <a16:creationId xmlns:a16="http://schemas.microsoft.com/office/drawing/2014/main" id="{E3F4F33F-7EC7-EC77-2120-E84AE2996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95" y="1554480"/>
            <a:ext cx="7550009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70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C.5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Multivariate &amp; Multistep Prediction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Input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univariate (adjclose only) vs full multivariate (5 features: open, high, low, adjclose, volume).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result: univariate R² = 0.9317 beat multivariate R² = 0.7921 at 25 epochs. Insufficient training time for the model to learn multi-feature relationships.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54864" cy="2011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Multistep Horizon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828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k days ahead simultaneously using Dense(k) output. Tested k = 1, 3, 5, 7.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 grows with forecast horizon (as expected). Direct multi-output approach: all k values predicted from the same LSTM hidden state.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input features does not automatically mean better predictions. Training budget (epochs) must scale with model complexity. GRU again outperformed LSTM across all experiment groups.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B82F6"/>
                </a:solidFill>
                <a:latin typeface="Calibri"/>
              </a:rPr>
              <a:t>ILLUSTRATION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Trebuchet MS"/>
              </a:rPr>
              <a:t>Prediction Error Grows with Forecast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Calibri"/>
              </a:rPr>
              <a:t>C.5: Per-step MAE increases as the model predicts further into the future</a:t>
            </a:r>
          </a:p>
        </p:txBody>
      </p:sp>
      <p:pic>
        <p:nvPicPr>
          <p:cNvPr id="6" name="Picture 5" descr="multistep_erro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85" y="1554480"/>
            <a:ext cx="5874828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C.6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Methods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statistical (ARIMA), tree-based (Random Forest), and deep learning (LSTM, GRU) models using three ensemble strategies.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Average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 mean of all model predictions. Simplest approach.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92024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337560" y="192024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Inverse-MAE weights: better models get more influence.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92024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54864" cy="1280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Hybrid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baseline + DL correction for nonlinear patterns.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1115568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Ensemble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 (auto)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2×50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Ensemble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Price Prediction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Direction Classification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828800" cy="18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C.1–C.6 predicted the exact dollar value. But in practice, traders care about direction: will it go up or down? Task C.7 reframes the problem as binary classification and introduces external news sentiment as a new feature.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3840480" cy="822960"/>
          </a:xfrm>
          <a:prstGeom prst="rect">
            <a:avLst/>
          </a:prstGeom>
          <a:solidFill>
            <a:srgbClr val="162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"Tomorrow’s price will be $105.23"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3931920"/>
            <a:ext cx="3840480" cy="822960"/>
          </a:xfrm>
          <a:prstGeom prst="rect">
            <a:avLst/>
          </a:prstGeom>
          <a:solidFill>
            <a:srgbClr val="162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0" y="4023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"Tomorrow’s price will go UP" (67% conf.)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Sentiment-Enhanced Classification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technical indicators (RSI, MACD, Bollinger Bands, SMA, returns)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Scrape Google News RSS for CBA-related headlines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Score each headline with VADER (rule-based) and FinBERT (transformer)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Aggregate daily sentiment scores and merge with price data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Train Random Forest &amp; Gradient Boosting classifiers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Compare: tech-only baseline vs VADER-enhanced vs FinBERT-enhanced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1371600"/>
            <a:ext cx="33832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303520" y="137160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lexicon. Fast, no GPU needed. Good for general text but not tuned for financial language.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0" y="2834640"/>
            <a:ext cx="33832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303520" y="283464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BERT fine-tuned on financial text. Understands domain-specific language (e.g., 'bearish outlook' = negative).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432511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expectation: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coverage for a specific Australian stock going back to 2020 is sparse. Sentiment data will have many missing days, which is a real-world data challenge, not a bug.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C.7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Results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3852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indicators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+ VADER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+ FinBERT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indicators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+ VADER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+ FinBERT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50–55% accuracy is not a failure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academic literature consistently shows that next-day stock direction prediction achieves 50–60% accuracy. The Efficient Market Hypothesis predicts that short-term direction is essentially a coin flip. Beating 50% even slightly, when sustained over many trades, can generate positive returns. Our results are consistent with published benchmarks.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Others Approach Stock Prediction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1284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Moghar &amp; Hamiche (2020)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R² on price curves; RMSE varies by stock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Baek &amp; Kim (2018)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+ GRU comparison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Single-layer &gt; multi-layer for many stocks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Chung et al. (2014)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vs LSTM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modeling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matches/beats LSTM with fewer params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Nelson et al. (2017)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classification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~55.9% accuracy on direction prediction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FinBERT-LSTM (2024)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FinBERT + LSTM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integration improved MAE and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ARIMA+LSTM (2025)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 vs LSTM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outperformed ARIMA; features helped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ScienceDirect, arXiv, ACM Digital Library, PeerJ Computer Science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Our Work Fits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use fixed LSTM architectures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LSTM, GRU, SimpleRNN with configurable depth/width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2057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just close price or a fixed feature set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2057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univariate vs multivariate comparison showing tradeoffs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743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ARIMA+LSTM hybrid is common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added Random Forest and tested 3 ensemble strategies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429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use LSTM for direction; few combine sentiment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0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with VADER vs FinBERT sentiment comparison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4114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finding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20240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Chung et al. (2014) showed GRU is competitive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03520" y="4114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results confirm: GRU outperformed LSTM consistently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92024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How I Overcame Them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Reference Code Overfitting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GitHub reference (P1) showed R² = 0.99 but MAPE = 40% on test data. Looked perfect on paper but useless for real prediction.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chronological train/test split instead of random. Adopted MAE, RMSE, MAPE, and R² together to detect misleading metrics.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 Made It Worse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286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volume, open, high, low as inputs decreased R² from 0.93 to 0.79.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that 25 training epochs was insufficient for the model to learn multi-feature relationships. Training budget must scale with input complexity.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in Ensembles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154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performed very poorly in the ensemble context (high MAE, negative R²) because flattening time windows destroys temporal structure.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0" y="3154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the limitation. RF treats each position in the window as an independent feature. Sequential models (LSTM/GRU/ARIMA) are fundamentally better suited for time series.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News Data for CBA.AX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RSS has limited coverage for a specific Australian bank stock going back to 2020.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0" y="4023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sparse coverage as a real-world constraint. Used daily aggregation with fallback to zero sentiment on days with no news.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Learnings</a:t>
            </a:r>
            <a:endParaRPr lang="en-US" sz="2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475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371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is a strong default choice for time series. Fewer parameters, faster training, and matched or beat LSTM in every experiment we ran. Consistent with Chung et al. (2014).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2029968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57984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0848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requires multiple metrics. R² alone can be misleading (P1 showed R² 0.99 but was useless). MAE gives intuitive dollar-error, MAPE normalizes across price ranges.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914400" y="274320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71216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798064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quality matters more than model complexity. NaN handling, proper scaling, chronological splitting, and scaler storage are unglamorous but prevent silent failures.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914400" y="3456432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8444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51129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direction prediction is fundamentally hard. 50–55% accuracy is the norm, not a failure. The value is in the framework: technical indicators + sentiment is an extensible architecture.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914400" y="4169664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9768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42245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development works. Building v01→v07 with backward compatibility at each step kept the project manageable and made debugging traceable.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Would Do Differently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14447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training epochs for multivariate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epochs was not enough to learn multi-feature relationships. Would run 100+ epochs with early stopping to give the multivariate model a fair chance.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23134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news data source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5877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RSS is limited for Australian stocks. Would explore financial APIs (Alpha Vantage, Benzinga) or ASX-specific news feeds for denser coverage.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3182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4564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single 80/20 split, would use rolling-window backtesting to evaluate model stability across different market conditions (pre-COVID, COVID crash, recovery).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" y="40507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before modeling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3251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use correlation analysis or feature importance ranking before throwing all features at the model. Some features may add noise rather than signal.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2E0DE-CB81-4A80-BD33-A2077C44A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B195580-B3CC-9990-D074-963695F3984C}"/>
              </a:ext>
            </a:extLst>
          </p:cNvPr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3E7C23-62B6-4ADB-31E9-F8D9CD554281}"/>
              </a:ext>
            </a:extLst>
          </p:cNvPr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1A30A1-E667-8882-758A-18B7BFA2AEFF}"/>
              </a:ext>
            </a:extLst>
          </p:cNvPr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9FDB552-BAAE-1CFE-2F5D-D56D207F0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488" y="582005"/>
            <a:ext cx="7421256" cy="456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54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B87663-1947-CD6B-60AF-A3B2D0C76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2771449D-E4A9-E70F-3E25-A223D3747002}"/>
              </a:ext>
            </a:extLst>
          </p:cNvPr>
          <p:cNvSpPr/>
          <p:nvPr/>
        </p:nvSpPr>
        <p:spPr>
          <a:xfrm>
            <a:off x="457200" y="274320"/>
            <a:ext cx="54864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DBFED1-DE08-3D23-C052-8F54899D38E2}"/>
              </a:ext>
            </a:extLst>
          </p:cNvPr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48F43D-DB9C-07CF-81E1-4116CBE68872}"/>
              </a:ext>
            </a:extLst>
          </p:cNvPr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E29A2C-F020-6EA5-9A1D-5404D1BF5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5650"/>
            <a:ext cx="9144000" cy="385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54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840480" y="2103120"/>
            <a:ext cx="1463040" cy="18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CBA.AX Stock Prediction  |  COS30018 Intelligent 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Minh Kha  |  Supervisor: Mr. Ky Trung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7315200" cy="18288"/>
          </a:xfrm>
          <a:prstGeom prst="rect">
            <a:avLst/>
          </a:prstGeom>
          <a:solidFill>
            <a:srgbClr val="162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3716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1,345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in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2001</Words>
  <Application>Microsoft Office PowerPoint</Application>
  <PresentationFormat>On-screen Show (16:9)</PresentationFormat>
  <Paragraphs>323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CBA.AX Stock Prediction - COS30018 Final Defense</dc:title>
  <dc:subject>PptxGenJS Presentation</dc:subject>
  <dc:creator>Le Minh Kha</dc:creator>
  <cp:lastModifiedBy>MINH LE</cp:lastModifiedBy>
  <cp:revision>5</cp:revision>
  <dcterms:created xsi:type="dcterms:W3CDTF">2026-04-02T08:16:11Z</dcterms:created>
  <dcterms:modified xsi:type="dcterms:W3CDTF">2026-04-08T14:42:57Z</dcterms:modified>
</cp:coreProperties>
</file>